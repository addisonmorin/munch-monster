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8" r:id="rId5"/>
    <p:sldId id="257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655" autoAdjust="0"/>
  </p:normalViewPr>
  <p:slideViewPr>
    <p:cSldViewPr snapToGrid="0">
      <p:cViewPr varScale="1">
        <p:scale>
          <a:sx n="75" d="100"/>
          <a:sy n="75" d="100"/>
        </p:scale>
        <p:origin x="91" y="4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fhfe\AppData\Local\Temp\e4f9a0ac-e120-40f1-a394-e5bec405d861_Onion_Module03_Past_Demand_And_Production_Module03_Data.zip.861\Onion_Module03_Past_Demand_And_Production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Metrics</a:t>
            </a:r>
            <a:r>
              <a:rPr lang="en-US" baseline="0" dirty="0"/>
              <a:t> Over Time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capacity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Sheet1!$H$2:$H$25</c:f>
              <c:numCache>
                <c:formatCode>General</c:formatCode>
                <c:ptCount val="24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</c:numCache>
            </c:numRef>
          </c:cat>
          <c:val>
            <c:numRef>
              <c:f>Sheet1!$I$2:$I$25</c:f>
              <c:numCache>
                <c:formatCode>General</c:formatCode>
                <c:ptCount val="24"/>
                <c:pt idx="0">
                  <c:v>503.90000000000003</c:v>
                </c:pt>
                <c:pt idx="1">
                  <c:v>498.41000000000008</c:v>
                </c:pt>
                <c:pt idx="2">
                  <c:v>493.45250000000004</c:v>
                </c:pt>
                <c:pt idx="3">
                  <c:v>447.33500000000004</c:v>
                </c:pt>
                <c:pt idx="4">
                  <c:v>509.63249999999994</c:v>
                </c:pt>
                <c:pt idx="5">
                  <c:v>491.55250000000001</c:v>
                </c:pt>
                <c:pt idx="6">
                  <c:v>503.69499999999994</c:v>
                </c:pt>
                <c:pt idx="7">
                  <c:v>504.27499999999998</c:v>
                </c:pt>
                <c:pt idx="8">
                  <c:v>503.49750000000006</c:v>
                </c:pt>
                <c:pt idx="9">
                  <c:v>496.38</c:v>
                </c:pt>
                <c:pt idx="10">
                  <c:v>501.63499999999999</c:v>
                </c:pt>
                <c:pt idx="11">
                  <c:v>488.29</c:v>
                </c:pt>
                <c:pt idx="12">
                  <c:v>496.6</c:v>
                </c:pt>
                <c:pt idx="13">
                  <c:v>512.14250000000004</c:v>
                </c:pt>
                <c:pt idx="14">
                  <c:v>494.78249999999997</c:v>
                </c:pt>
                <c:pt idx="15">
                  <c:v>500.32249999999999</c:v>
                </c:pt>
                <c:pt idx="16">
                  <c:v>475.29250000000002</c:v>
                </c:pt>
                <c:pt idx="17">
                  <c:v>512.21500000000003</c:v>
                </c:pt>
                <c:pt idx="18">
                  <c:v>516.08749999999998</c:v>
                </c:pt>
                <c:pt idx="19">
                  <c:v>529.4</c:v>
                </c:pt>
                <c:pt idx="20">
                  <c:v>503.90999999999997</c:v>
                </c:pt>
                <c:pt idx="21">
                  <c:v>520.3649999999999</c:v>
                </c:pt>
                <c:pt idx="22">
                  <c:v>529.07249999999999</c:v>
                </c:pt>
                <c:pt idx="23">
                  <c:v>521.71499999999992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F2-44F8-9261-C47FDFDB9B15}"/>
            </c:ext>
          </c:extLst>
        </c:ser>
        <c:ser>
          <c:idx val="1"/>
          <c:order val="1"/>
          <c:tx>
            <c:strRef>
              <c:f>Sheet1!$J$1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Sheet1!$H$2:$H$25</c:f>
              <c:numCache>
                <c:formatCode>General</c:formatCode>
                <c:ptCount val="24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</c:numCache>
            </c:numRef>
          </c:cat>
          <c:val>
            <c:numRef>
              <c:f>Sheet1!$J$2:$J$25</c:f>
              <c:numCache>
                <c:formatCode>General</c:formatCode>
                <c:ptCount val="24"/>
                <c:pt idx="0">
                  <c:v>539.33500000000004</c:v>
                </c:pt>
                <c:pt idx="1">
                  <c:v>446.30749999999995</c:v>
                </c:pt>
                <c:pt idx="2">
                  <c:v>485.8775</c:v>
                </c:pt>
                <c:pt idx="3">
                  <c:v>492.60500000000002</c:v>
                </c:pt>
                <c:pt idx="4">
                  <c:v>476.14250000000004</c:v>
                </c:pt>
                <c:pt idx="5">
                  <c:v>375.15750000000003</c:v>
                </c:pt>
                <c:pt idx="6">
                  <c:v>436.17750000000001</c:v>
                </c:pt>
                <c:pt idx="7">
                  <c:v>383.06000000000006</c:v>
                </c:pt>
                <c:pt idx="8">
                  <c:v>549.23250000000007</c:v>
                </c:pt>
                <c:pt idx="9">
                  <c:v>463.90499999999997</c:v>
                </c:pt>
                <c:pt idx="10">
                  <c:v>466.83500000000004</c:v>
                </c:pt>
                <c:pt idx="11">
                  <c:v>473.90500000000003</c:v>
                </c:pt>
                <c:pt idx="12">
                  <c:v>524.04750000000001</c:v>
                </c:pt>
                <c:pt idx="13">
                  <c:v>488.41499999999996</c:v>
                </c:pt>
                <c:pt idx="14">
                  <c:v>431.99250000000006</c:v>
                </c:pt>
                <c:pt idx="15">
                  <c:v>444.03750000000002</c:v>
                </c:pt>
                <c:pt idx="16">
                  <c:v>420.18999999999994</c:v>
                </c:pt>
                <c:pt idx="17">
                  <c:v>524.61500000000001</c:v>
                </c:pt>
                <c:pt idx="18">
                  <c:v>503.13</c:v>
                </c:pt>
                <c:pt idx="19">
                  <c:v>507.53250000000003</c:v>
                </c:pt>
                <c:pt idx="20">
                  <c:v>404.13249999999994</c:v>
                </c:pt>
                <c:pt idx="21">
                  <c:v>517.55250000000001</c:v>
                </c:pt>
                <c:pt idx="22">
                  <c:v>477.02749999999997</c:v>
                </c:pt>
                <c:pt idx="23">
                  <c:v>418.72500000000002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F2-44F8-9261-C47FDFDB9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82260448"/>
        <c:axId val="682259008"/>
      </c:barChart>
      <c:lineChart>
        <c:grouping val="standard"/>
        <c:varyColors val="0"/>
        <c:ser>
          <c:idx val="2"/>
          <c:order val="2"/>
          <c:tx>
            <c:strRef>
              <c:f>Sheet1!$K$1</c:f>
              <c:strCache>
                <c:ptCount val="1"/>
                <c:pt idx="0">
                  <c:v>production_cost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numRef>
              <c:f>Sheet1!$H$2:$H$25</c:f>
              <c:numCache>
                <c:formatCode>General</c:formatCode>
                <c:ptCount val="24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  <c:pt idx="22">
                  <c:v>2022</c:v>
                </c:pt>
                <c:pt idx="23">
                  <c:v>2023</c:v>
                </c:pt>
              </c:numCache>
            </c:numRef>
          </c:cat>
          <c:val>
            <c:numRef>
              <c:f>Sheet1!$K$2:$K$25</c:f>
              <c:numCache>
                <c:formatCode>General</c:formatCode>
                <c:ptCount val="24"/>
                <c:pt idx="0">
                  <c:v>46.5075</c:v>
                </c:pt>
                <c:pt idx="1">
                  <c:v>54.632499999999993</c:v>
                </c:pt>
                <c:pt idx="2">
                  <c:v>49.164999999999999</c:v>
                </c:pt>
                <c:pt idx="3">
                  <c:v>50.795000000000002</c:v>
                </c:pt>
                <c:pt idx="4">
                  <c:v>44.352499999999999</c:v>
                </c:pt>
                <c:pt idx="5">
                  <c:v>48.489999999999995</c:v>
                </c:pt>
                <c:pt idx="6">
                  <c:v>47.037500000000001</c:v>
                </c:pt>
                <c:pt idx="7">
                  <c:v>51.714999999999996</c:v>
                </c:pt>
                <c:pt idx="8">
                  <c:v>45.165000000000006</c:v>
                </c:pt>
                <c:pt idx="9">
                  <c:v>46.692499999999995</c:v>
                </c:pt>
                <c:pt idx="10">
                  <c:v>48.772500000000001</c:v>
                </c:pt>
                <c:pt idx="11">
                  <c:v>49.11</c:v>
                </c:pt>
                <c:pt idx="12">
                  <c:v>53.625</c:v>
                </c:pt>
                <c:pt idx="13">
                  <c:v>48.224999999999994</c:v>
                </c:pt>
                <c:pt idx="14">
                  <c:v>47.842500000000001</c:v>
                </c:pt>
                <c:pt idx="15">
                  <c:v>49.335000000000001</c:v>
                </c:pt>
                <c:pt idx="16">
                  <c:v>47.86</c:v>
                </c:pt>
                <c:pt idx="17">
                  <c:v>50.322500000000005</c:v>
                </c:pt>
                <c:pt idx="18">
                  <c:v>49.954999999999998</c:v>
                </c:pt>
                <c:pt idx="19">
                  <c:v>51.837500000000006</c:v>
                </c:pt>
                <c:pt idx="20">
                  <c:v>46.41</c:v>
                </c:pt>
                <c:pt idx="21">
                  <c:v>46.442499999999995</c:v>
                </c:pt>
                <c:pt idx="22">
                  <c:v>50.755000000000003</c:v>
                </c:pt>
                <c:pt idx="23">
                  <c:v>46.029999999999994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6F2-44F8-9261-C47FDFDB9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99699600"/>
        <c:axId val="1999695280"/>
      </c:lineChart>
      <c:catAx>
        <c:axId val="68226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2259008"/>
        <c:crosses val="autoZero"/>
        <c:auto val="1"/>
        <c:lblAlgn val="ctr"/>
        <c:lblOffset val="100"/>
        <c:noMultiLvlLbl val="0"/>
      </c:catAx>
      <c:valAx>
        <c:axId val="682259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2260448"/>
        <c:crosses val="autoZero"/>
        <c:crossBetween val="between"/>
      </c:valAx>
      <c:valAx>
        <c:axId val="199969528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9699600"/>
        <c:crosses val="max"/>
        <c:crossBetween val="between"/>
      </c:valAx>
      <c:catAx>
        <c:axId val="19996996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996952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49BD-CF2D-80D0-06D4-9581274CC2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Production planning guide</a:t>
            </a:r>
          </a:p>
        </p:txBody>
      </p:sp>
    </p:spTree>
    <p:extLst>
      <p:ext uri="{BB962C8B-B14F-4D97-AF65-F5344CB8AC3E}">
        <p14:creationId xmlns:p14="http://schemas.microsoft.com/office/powerpoint/2010/main" val="1659028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E852-CC08-7A76-EE5B-62CFACE9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701039"/>
          </a:xfrm>
        </p:spPr>
        <p:txBody>
          <a:bodyPr/>
          <a:lstStyle/>
          <a:p>
            <a:r>
              <a:rPr lang="en-US" dirty="0"/>
              <a:t>Aggregate the data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EB7DA-831A-A125-71C9-4A64D872B02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88D42A-8C6C-33CD-7041-5B9853DFCECB}"/>
              </a:ext>
            </a:extLst>
          </p:cNvPr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H$7:$L$11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7984" y="2289810"/>
            <a:ext cx="8579580" cy="213614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68FAB3-8A3C-5DF4-FF41-96F4E2A8C97A}"/>
              </a:ext>
            </a:extLst>
          </p:cNvPr>
          <p:cNvSpPr txBox="1"/>
          <p:nvPr/>
        </p:nvSpPr>
        <p:spPr>
          <a:xfrm>
            <a:off x="87424" y="2342217"/>
            <a:ext cx="1853136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Capacity, Demand, and Production Cost should be quarterly average over whole data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6646C-9400-5057-B2AC-9C60E3D1CE80}"/>
              </a:ext>
            </a:extLst>
          </p:cNvPr>
          <p:cNvSpPr txBox="1"/>
          <p:nvPr/>
        </p:nvSpPr>
        <p:spPr>
          <a:xfrm>
            <a:off x="6238240" y="1477863"/>
            <a:ext cx="25095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Calculate Safety Stock off Total Demand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D5E99A-6C86-75DA-5F7E-E021CD49C2C2}"/>
              </a:ext>
            </a:extLst>
          </p:cNvPr>
          <p:cNvSpPr txBox="1"/>
          <p:nvPr/>
        </p:nvSpPr>
        <p:spPr>
          <a:xfrm>
            <a:off x="1940560" y="5019040"/>
            <a:ext cx="905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adding the following: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Conditional Formatting per column</a:t>
            </a:r>
          </a:p>
          <a:p>
            <a:pPr marL="285750" indent="-285750">
              <a:buFontTx/>
              <a:buChar char="-"/>
            </a:pPr>
            <a:r>
              <a:rPr lang="en-US" dirty="0"/>
              <a:t>Include Overall aggregations (like Percentiles, Mean, etc.)</a:t>
            </a:r>
          </a:p>
          <a:p>
            <a:pPr marL="285750" indent="-285750">
              <a:buFontTx/>
              <a:buChar char="-"/>
            </a:pPr>
            <a:r>
              <a:rPr lang="en-US" dirty="0"/>
              <a:t>Add in Sparklines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884D8-3733-582A-3A99-699A1E6650F3}"/>
              </a:ext>
            </a:extLst>
          </p:cNvPr>
          <p:cNvSpPr/>
          <p:nvPr/>
        </p:nvSpPr>
        <p:spPr>
          <a:xfrm>
            <a:off x="794175" y="1477863"/>
            <a:ext cx="5469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F4F190-1BA0-4A9F-5963-8DAB09958FF7}"/>
              </a:ext>
            </a:extLst>
          </p:cNvPr>
          <p:cNvSpPr/>
          <p:nvPr/>
        </p:nvSpPr>
        <p:spPr>
          <a:xfrm>
            <a:off x="7219527" y="608270"/>
            <a:ext cx="5469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EB5581-2417-779F-F80B-E2B3B4F19F80}"/>
              </a:ext>
            </a:extLst>
          </p:cNvPr>
          <p:cNvSpPr/>
          <p:nvPr/>
        </p:nvSpPr>
        <p:spPr>
          <a:xfrm>
            <a:off x="1198880" y="5068808"/>
            <a:ext cx="5469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502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17ED3-7E00-26DA-2AAB-8E4576728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/>
          <a:p>
            <a:r>
              <a:rPr lang="en-US" dirty="0"/>
              <a:t>Other Data Exploration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D48AF-8470-5F05-DD50-B2888E5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A94F5A-F420-D558-33CE-EA9EF36CB0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781155"/>
              </p:ext>
            </p:extLst>
          </p:nvPr>
        </p:nvGraphicFramePr>
        <p:xfrm>
          <a:off x="838200" y="2111381"/>
          <a:ext cx="10515600" cy="3570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14426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9308-C9DC-024F-A17D-64D8813F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1"/>
            <a:ext cx="10515600" cy="571010"/>
          </a:xfrm>
        </p:spPr>
        <p:txBody>
          <a:bodyPr/>
          <a:lstStyle/>
          <a:p>
            <a:r>
              <a:rPr lang="en-US" dirty="0"/>
              <a:t>Create your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CDC99-9932-B233-5F69-C2CB7429D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294ABC-1830-7CC6-FDDB-93D6868B3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964"/>
            <a:ext cx="12192000" cy="424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171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{A4249BCB-A9A7-4118-BBB9-F2F1B6F83BEB}tf67328976_win32</Template>
  <TotalTime>53</TotalTime>
  <Words>65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Tenorite</vt:lpstr>
      <vt:lpstr>Custom</vt:lpstr>
      <vt:lpstr>Production planning guide</vt:lpstr>
      <vt:lpstr>Aggregate the data</vt:lpstr>
      <vt:lpstr>Other Data Exploration</vt:lpstr>
      <vt:lpstr>Create your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Harris</dc:creator>
  <cp:lastModifiedBy>Ryan Harris</cp:lastModifiedBy>
  <cp:revision>1</cp:revision>
  <dcterms:created xsi:type="dcterms:W3CDTF">2025-02-19T19:57:27Z</dcterms:created>
  <dcterms:modified xsi:type="dcterms:W3CDTF">2025-02-19T20:50:53Z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